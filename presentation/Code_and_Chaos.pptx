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4312e43b2da7bf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h4312e43b2da7bfc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h4312e43b2da7bfc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h4312e43b2da7bfca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D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502920" y="25603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01  •  TITLE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561320" y="6510528"/>
            <a:ext cx="114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94360" y="960120"/>
            <a:ext cx="658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CRIME FIR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94347" y="1664200"/>
            <a:ext cx="8866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FIR Intelligence &amp;</a:t>
            </a:r>
            <a:r>
              <a:rPr b="1" lang="en-US" sz="2500">
                <a:solidFill>
                  <a:srgbClr val="ABB8CA"/>
                </a:solidFill>
              </a:rPr>
              <a:t> </a:t>
            </a:r>
            <a:r>
              <a:rPr b="1" i="0" lang="en-US" sz="250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Crime Pattern Detector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67510" y="2299706"/>
            <a:ext cx="6309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From isolated FIR narratives → connected, explainable investigation intelligence.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594360" y="3182112"/>
            <a:ext cx="1417200" cy="310800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1624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67512" y="3214116"/>
            <a:ext cx="12710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PS10 • TRACK 4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2148840" y="3182112"/>
            <a:ext cx="1828800" cy="310896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1624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221992" y="3214116"/>
            <a:ext cx="1682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IBM × NFSU 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94360" y="3977639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THE STORY OF THE SYSTEM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594360" y="4434840"/>
            <a:ext cx="2423160" cy="1024128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758952" y="4617720"/>
            <a:ext cx="20848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FIRs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58952" y="4919472"/>
            <a:ext cx="2084831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Raw narratives</a:t>
            </a:r>
            <a:endParaRPr/>
          </a:p>
        </p:txBody>
      </p:sp>
      <p:cxnSp>
        <p:nvCxnSpPr>
          <p:cNvPr id="98" name="Google Shape;98;p13"/>
          <p:cNvCxnSpPr/>
          <p:nvPr/>
        </p:nvCxnSpPr>
        <p:spPr>
          <a:xfrm>
            <a:off x="3017520" y="4946904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41D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9" name="Google Shape;99;p13"/>
          <p:cNvSpPr/>
          <p:nvPr/>
        </p:nvSpPr>
        <p:spPr>
          <a:xfrm>
            <a:off x="3337560" y="4434840"/>
            <a:ext cx="2423160" cy="1024128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3502152" y="4617720"/>
            <a:ext cx="20848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D87FF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3502152" y="4919472"/>
            <a:ext cx="2084831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Entities + MO</a:t>
            </a:r>
            <a:endParaRPr/>
          </a:p>
        </p:txBody>
      </p:sp>
      <p:cxnSp>
        <p:nvCxnSpPr>
          <p:cNvPr id="102" name="Google Shape;102;p13"/>
          <p:cNvCxnSpPr/>
          <p:nvPr/>
        </p:nvCxnSpPr>
        <p:spPr>
          <a:xfrm>
            <a:off x="5760720" y="4946904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4D87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3" name="Google Shape;103;p13"/>
          <p:cNvSpPr/>
          <p:nvPr/>
        </p:nvSpPr>
        <p:spPr>
          <a:xfrm>
            <a:off x="6080760" y="4434840"/>
            <a:ext cx="2423160" cy="1024128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6245352" y="4617720"/>
            <a:ext cx="20848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D6EFF"/>
                </a:solidFill>
                <a:latin typeface="Arial"/>
                <a:ea typeface="Arial"/>
                <a:cs typeface="Arial"/>
                <a:sym typeface="Arial"/>
              </a:rPr>
              <a:t>CONNECTIONS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6245352" y="4919472"/>
            <a:ext cx="2084831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Cross-case links</a:t>
            </a:r>
            <a:endParaRPr/>
          </a:p>
        </p:txBody>
      </p:sp>
      <p:cxnSp>
        <p:nvCxnSpPr>
          <p:cNvPr id="106" name="Google Shape;106;p13"/>
          <p:cNvCxnSpPr/>
          <p:nvPr/>
        </p:nvCxnSpPr>
        <p:spPr>
          <a:xfrm>
            <a:off x="8503920" y="4946904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9D6E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7" name="Google Shape;107;p13"/>
          <p:cNvSpPr/>
          <p:nvPr/>
        </p:nvSpPr>
        <p:spPr>
          <a:xfrm>
            <a:off x="8823960" y="4434840"/>
            <a:ext cx="2423160" cy="1024128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8988552" y="4617720"/>
            <a:ext cx="20848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BD291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8988552" y="4919472"/>
            <a:ext cx="2084831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Leads + review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594360" y="580644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Core principle: AI accelerates analysis; investigators remain the decision-makers.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2697423" y="344520"/>
            <a:ext cx="658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5F8FC"/>
                </a:solidFill>
              </a:rPr>
              <a:t>TEAM Code and Chaos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D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D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502920" y="25603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02  •  PROBLEM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0561320" y="6510528"/>
            <a:ext cx="114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502920" y="658368"/>
            <a:ext cx="1115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8FC"/>
                </a:solidFill>
              </a:rPr>
              <a:t>The Problem exists where…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493770" y="1476768"/>
            <a:ext cx="3703200" cy="3612000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658362" y="1595640"/>
            <a:ext cx="3374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WHAT THE INVESTIGATOR HAS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704082" y="1915680"/>
            <a:ext cx="1051500" cy="310800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1624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777234" y="1947684"/>
            <a:ext cx="905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FIR TEXT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704157" y="2311923"/>
            <a:ext cx="3246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5F8FC"/>
                </a:solidFill>
              </a:rPr>
              <a:t>D</a:t>
            </a:r>
            <a:r>
              <a:rPr b="1" i="0" lang="en-US" sz="16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etails are spread across names, places, dates, modus operandi and evidence identifiers.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722183" y="3428930"/>
            <a:ext cx="315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• Accused / aliases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722183" y="3812978"/>
            <a:ext cx="315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• Location + station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722183" y="4197026"/>
            <a:ext cx="315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• MO + victim profile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722183" y="4581074"/>
            <a:ext cx="315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• Phone / account / device / vehicle</a:t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4407402" y="1476768"/>
            <a:ext cx="3337500" cy="3612000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4571994" y="1595640"/>
            <a:ext cx="3008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AE4A"/>
                </a:solidFill>
                <a:latin typeface="Arial"/>
                <a:ea typeface="Arial"/>
                <a:cs typeface="Arial"/>
                <a:sym typeface="Arial"/>
              </a:rPr>
              <a:t>WHAT GETS LOST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4636002" y="1952256"/>
            <a:ext cx="285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AE4A"/>
                </a:solidFill>
                <a:latin typeface="Arial"/>
                <a:ea typeface="Arial"/>
                <a:cs typeface="Arial"/>
                <a:sym typeface="Arial"/>
              </a:rPr>
              <a:t>CASE CONTEXT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4636002" y="2235720"/>
            <a:ext cx="2816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One FIR is readable; the batch is harder to compare.</a:t>
            </a:r>
            <a:endParaRPr sz="1500"/>
          </a:p>
        </p:txBody>
      </p:sp>
      <p:sp>
        <p:nvSpPr>
          <p:cNvPr id="133" name="Google Shape;133;p14"/>
          <p:cNvSpPr txBox="1"/>
          <p:nvPr/>
        </p:nvSpPr>
        <p:spPr>
          <a:xfrm>
            <a:off x="4636002" y="2884944"/>
            <a:ext cx="285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AE4A"/>
                </a:solidFill>
                <a:latin typeface="Arial"/>
                <a:ea typeface="Arial"/>
                <a:cs typeface="Arial"/>
                <a:sym typeface="Arial"/>
              </a:rPr>
              <a:t>REPEATED SIGNALS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4636002" y="3168407"/>
            <a:ext cx="2816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The same infrastructure or MO may appear across cases.</a:t>
            </a:r>
            <a:endParaRPr sz="1500"/>
          </a:p>
        </p:txBody>
      </p:sp>
      <p:sp>
        <p:nvSpPr>
          <p:cNvPr id="135" name="Google Shape;135;p14"/>
          <p:cNvSpPr txBox="1"/>
          <p:nvPr/>
        </p:nvSpPr>
        <p:spPr>
          <a:xfrm>
            <a:off x="4636002" y="3817632"/>
            <a:ext cx="285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AE4A"/>
                </a:solidFill>
                <a:latin typeface="Arial"/>
                <a:ea typeface="Arial"/>
                <a:cs typeface="Arial"/>
                <a:sym typeface="Arial"/>
              </a:rPr>
              <a:t>CROSS-STATION LINKS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4636002" y="4101096"/>
            <a:ext cx="2816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Connections can span stations and districts.</a:t>
            </a:r>
            <a:endParaRPr sz="1500"/>
          </a:p>
        </p:txBody>
      </p:sp>
      <p:sp>
        <p:nvSpPr>
          <p:cNvPr id="137" name="Google Shape;137;p14"/>
          <p:cNvSpPr/>
          <p:nvPr/>
        </p:nvSpPr>
        <p:spPr>
          <a:xfrm>
            <a:off x="7964418" y="1476768"/>
            <a:ext cx="3703200" cy="3612000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8129010" y="1595640"/>
            <a:ext cx="3374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BD291"/>
                </a:solidFill>
                <a:latin typeface="Arial"/>
                <a:ea typeface="Arial"/>
                <a:cs typeface="Arial"/>
                <a:sym typeface="Arial"/>
              </a:rPr>
              <a:t>PS10 DEMANDS</a:t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8202162" y="1933968"/>
            <a:ext cx="411600" cy="310800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1624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8275314" y="1965972"/>
            <a:ext cx="26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4BD291"/>
                </a:solidFill>
              </a:rPr>
              <a:t>1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8750802" y="1961400"/>
            <a:ext cx="2514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Classify crime type</a:t>
            </a:r>
            <a:endParaRPr/>
          </a:p>
        </p:txBody>
      </p:sp>
      <p:sp>
        <p:nvSpPr>
          <p:cNvPr id="142" name="Google Shape;142;p14"/>
          <p:cNvSpPr/>
          <p:nvPr/>
        </p:nvSpPr>
        <p:spPr>
          <a:xfrm>
            <a:off x="8202162" y="2592336"/>
            <a:ext cx="411600" cy="310800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1624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8275314" y="2624340"/>
            <a:ext cx="26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4BD291"/>
                </a:solidFill>
              </a:rPr>
              <a:t>2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8750802" y="2619768"/>
            <a:ext cx="2514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Extract entities + MO</a:t>
            </a:r>
            <a:endParaRPr/>
          </a:p>
        </p:txBody>
      </p:sp>
      <p:sp>
        <p:nvSpPr>
          <p:cNvPr id="145" name="Google Shape;145;p14"/>
          <p:cNvSpPr/>
          <p:nvPr/>
        </p:nvSpPr>
        <p:spPr>
          <a:xfrm>
            <a:off x="8202162" y="3250704"/>
            <a:ext cx="411600" cy="310800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1624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8275314" y="3282707"/>
            <a:ext cx="26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4BD291"/>
                </a:solidFill>
              </a:rPr>
              <a:t>3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8750802" y="3278136"/>
            <a:ext cx="2514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Detect repeat-offender signatures</a:t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>
            <a:off x="8202162" y="3909072"/>
            <a:ext cx="411600" cy="310800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1624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8275314" y="3941076"/>
            <a:ext cx="26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4BD291"/>
                </a:solidFill>
              </a:rPr>
              <a:t>4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8750802" y="3936504"/>
            <a:ext cx="2514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Summarize station-level trends</a:t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502920" y="5623560"/>
            <a:ext cx="11173968" cy="502920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685800" y="573328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So the design question becomes:  How do we turn each FIR into evidence that can be compared, connected and explained?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D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502920" y="25603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03  •  SOLUTION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10561320" y="6510528"/>
            <a:ext cx="114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502920" y="65836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CrimeFIR creates a chain from text → intelligence → connections → investigation leads.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502920" y="1874519"/>
            <a:ext cx="2057400" cy="1874519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667512" y="2057400"/>
            <a:ext cx="384048" cy="310896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1624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740664" y="2089404"/>
            <a:ext cx="23774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667512" y="2542032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667512" y="2953512"/>
            <a:ext cx="170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Preserve the FIR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as the source</a:t>
            </a:r>
            <a:endParaRPr sz="1500"/>
          </a:p>
        </p:txBody>
      </p:sp>
      <p:cxnSp>
        <p:nvCxnSpPr>
          <p:cNvPr id="166" name="Google Shape;166;p15"/>
          <p:cNvCxnSpPr/>
          <p:nvPr/>
        </p:nvCxnSpPr>
        <p:spPr>
          <a:xfrm>
            <a:off x="2560320" y="2816352"/>
            <a:ext cx="274319" cy="0"/>
          </a:xfrm>
          <a:prstGeom prst="straightConnector1">
            <a:avLst/>
          </a:prstGeom>
          <a:noFill/>
          <a:ln cap="flat" cmpd="sng" w="25400">
            <a:solidFill>
              <a:srgbClr val="41D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7" name="Google Shape;167;p15"/>
          <p:cNvSpPr/>
          <p:nvPr/>
        </p:nvSpPr>
        <p:spPr>
          <a:xfrm>
            <a:off x="2834639" y="1874519"/>
            <a:ext cx="2057400" cy="1874519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2999232" y="2057400"/>
            <a:ext cx="384048" cy="310896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1624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3072384" y="2089404"/>
            <a:ext cx="23774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D87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2999232" y="2542032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D87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2999232" y="2953512"/>
            <a:ext cx="170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Extract entities,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MO and crime type</a:t>
            </a:r>
            <a:endParaRPr sz="1500"/>
          </a:p>
        </p:txBody>
      </p:sp>
      <p:cxnSp>
        <p:nvCxnSpPr>
          <p:cNvPr id="172" name="Google Shape;172;p15"/>
          <p:cNvCxnSpPr/>
          <p:nvPr/>
        </p:nvCxnSpPr>
        <p:spPr>
          <a:xfrm>
            <a:off x="4892040" y="2816352"/>
            <a:ext cx="274319" cy="0"/>
          </a:xfrm>
          <a:prstGeom prst="straightConnector1">
            <a:avLst/>
          </a:prstGeom>
          <a:noFill/>
          <a:ln cap="flat" cmpd="sng" w="25400">
            <a:solidFill>
              <a:srgbClr val="4D87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3" name="Google Shape;173;p15"/>
          <p:cNvSpPr/>
          <p:nvPr/>
        </p:nvSpPr>
        <p:spPr>
          <a:xfrm>
            <a:off x="5166359" y="1874519"/>
            <a:ext cx="2057400" cy="1874519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5330951" y="2057400"/>
            <a:ext cx="384048" cy="310896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1624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5404103" y="2089404"/>
            <a:ext cx="23774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D6E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76" name="Google Shape;176;p15"/>
          <p:cNvSpPr txBox="1"/>
          <p:nvPr/>
        </p:nvSpPr>
        <p:spPr>
          <a:xfrm>
            <a:off x="5330951" y="2542032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9D6EFF"/>
                </a:solidFill>
                <a:latin typeface="Arial"/>
                <a:ea typeface="Arial"/>
                <a:cs typeface="Arial"/>
                <a:sym typeface="Arial"/>
              </a:rPr>
              <a:t>CONNECT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5330951" y="2953512"/>
            <a:ext cx="170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Link hard evidence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and similar patterns</a:t>
            </a:r>
            <a:endParaRPr sz="1500"/>
          </a:p>
        </p:txBody>
      </p:sp>
      <p:cxnSp>
        <p:nvCxnSpPr>
          <p:cNvPr id="178" name="Google Shape;178;p15"/>
          <p:cNvCxnSpPr/>
          <p:nvPr/>
        </p:nvCxnSpPr>
        <p:spPr>
          <a:xfrm>
            <a:off x="7223759" y="2816352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9D6E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9" name="Google Shape;179;p15"/>
          <p:cNvSpPr/>
          <p:nvPr/>
        </p:nvSpPr>
        <p:spPr>
          <a:xfrm>
            <a:off x="7498079" y="1874519"/>
            <a:ext cx="2057400" cy="1874519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7662671" y="2057400"/>
            <a:ext cx="384048" cy="310896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1624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7735823" y="2089404"/>
            <a:ext cx="23774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AE4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7662671" y="2542032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AE4A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7662671" y="2953512"/>
            <a:ext cx="170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Show why cases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are connected</a:t>
            </a:r>
            <a:endParaRPr sz="1500"/>
          </a:p>
        </p:txBody>
      </p:sp>
      <p:cxnSp>
        <p:nvCxnSpPr>
          <p:cNvPr id="184" name="Google Shape;184;p15"/>
          <p:cNvCxnSpPr/>
          <p:nvPr/>
        </p:nvCxnSpPr>
        <p:spPr>
          <a:xfrm>
            <a:off x="9555480" y="2816352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FFAE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5" name="Google Shape;185;p15"/>
          <p:cNvSpPr/>
          <p:nvPr/>
        </p:nvSpPr>
        <p:spPr>
          <a:xfrm>
            <a:off x="9829800" y="1874519"/>
            <a:ext cx="2057400" cy="1874519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9994392" y="2057400"/>
            <a:ext cx="384048" cy="310896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1624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10067544" y="2089404"/>
            <a:ext cx="23774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BD29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9994392" y="2542032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BD291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9994392" y="2953512"/>
            <a:ext cx="170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Human confirms,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corrects or acts</a:t>
            </a:r>
            <a:endParaRPr sz="1500"/>
          </a:p>
        </p:txBody>
      </p:sp>
      <p:sp>
        <p:nvSpPr>
          <p:cNvPr id="190" name="Google Shape;190;p15"/>
          <p:cNvSpPr txBox="1"/>
          <p:nvPr/>
        </p:nvSpPr>
        <p:spPr>
          <a:xfrm>
            <a:off x="502920" y="4160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ONE PIPELINE → FIVE USEFUL OUTPUTS</a:t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502920" y="4617720"/>
            <a:ext cx="2148840" cy="960120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621792" y="4754880"/>
            <a:ext cx="1911095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Case Intelligence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621792" y="5047488"/>
            <a:ext cx="190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Structured FIR view</a:t>
            </a:r>
            <a:endParaRPr sz="1500"/>
          </a:p>
        </p:txBody>
      </p:sp>
      <p:sp>
        <p:nvSpPr>
          <p:cNvPr id="194" name="Google Shape;194;p15"/>
          <p:cNvSpPr/>
          <p:nvPr/>
        </p:nvSpPr>
        <p:spPr>
          <a:xfrm>
            <a:off x="2770632" y="4617720"/>
            <a:ext cx="2148840" cy="960120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2889504" y="4754880"/>
            <a:ext cx="1911095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D87FF"/>
                </a:solidFill>
                <a:latin typeface="Arial"/>
                <a:ea typeface="Arial"/>
                <a:cs typeface="Arial"/>
                <a:sym typeface="Arial"/>
              </a:rPr>
              <a:t>Investigation Graph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2889504" y="5047488"/>
            <a:ext cx="190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Evidence + pattern links</a:t>
            </a:r>
            <a:endParaRPr sz="1500"/>
          </a:p>
        </p:txBody>
      </p:sp>
      <p:sp>
        <p:nvSpPr>
          <p:cNvPr id="197" name="Google Shape;197;p15"/>
          <p:cNvSpPr/>
          <p:nvPr/>
        </p:nvSpPr>
        <p:spPr>
          <a:xfrm>
            <a:off x="5038344" y="4617720"/>
            <a:ext cx="2148840" cy="960120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 txBox="1"/>
          <p:nvPr/>
        </p:nvSpPr>
        <p:spPr>
          <a:xfrm>
            <a:off x="5157216" y="4754880"/>
            <a:ext cx="1911095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D6EFF"/>
                </a:solidFill>
                <a:latin typeface="Arial"/>
                <a:ea typeface="Arial"/>
                <a:cs typeface="Arial"/>
                <a:sym typeface="Arial"/>
              </a:rPr>
              <a:t>Repeat Groups</a:t>
            </a:r>
            <a:endParaRPr/>
          </a:p>
        </p:txBody>
      </p:sp>
      <p:sp>
        <p:nvSpPr>
          <p:cNvPr id="199" name="Google Shape;199;p15"/>
          <p:cNvSpPr txBox="1"/>
          <p:nvPr/>
        </p:nvSpPr>
        <p:spPr>
          <a:xfrm>
            <a:off x="5157216" y="5047488"/>
            <a:ext cx="190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Cross-case signatures</a:t>
            </a:r>
            <a:endParaRPr sz="1500"/>
          </a:p>
        </p:txBody>
      </p:sp>
      <p:sp>
        <p:nvSpPr>
          <p:cNvPr id="200" name="Google Shape;200;p15"/>
          <p:cNvSpPr/>
          <p:nvPr/>
        </p:nvSpPr>
        <p:spPr>
          <a:xfrm>
            <a:off x="7306056" y="4617720"/>
            <a:ext cx="2148840" cy="960120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7424928" y="4754880"/>
            <a:ext cx="1911095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AE4A"/>
                </a:solidFill>
                <a:latin typeface="Arial"/>
                <a:ea typeface="Arial"/>
                <a:cs typeface="Arial"/>
                <a:sym typeface="Arial"/>
              </a:rPr>
              <a:t>Station Intelligence</a:t>
            </a:r>
            <a:endParaRPr/>
          </a:p>
        </p:txBody>
      </p:sp>
      <p:sp>
        <p:nvSpPr>
          <p:cNvPr id="202" name="Google Shape;202;p15"/>
          <p:cNvSpPr txBox="1"/>
          <p:nvPr/>
        </p:nvSpPr>
        <p:spPr>
          <a:xfrm>
            <a:off x="7424928" y="5047488"/>
            <a:ext cx="190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Trends + activity</a:t>
            </a:r>
            <a:endParaRPr sz="1500"/>
          </a:p>
        </p:txBody>
      </p:sp>
      <p:sp>
        <p:nvSpPr>
          <p:cNvPr id="203" name="Google Shape;203;p15"/>
          <p:cNvSpPr/>
          <p:nvPr/>
        </p:nvSpPr>
        <p:spPr>
          <a:xfrm>
            <a:off x="9573768" y="4617720"/>
            <a:ext cx="2148840" cy="960120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 txBox="1"/>
          <p:nvPr/>
        </p:nvSpPr>
        <p:spPr>
          <a:xfrm>
            <a:off x="9692640" y="4754880"/>
            <a:ext cx="1911095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BD291"/>
                </a:solidFill>
                <a:latin typeface="Arial"/>
                <a:ea typeface="Arial"/>
                <a:cs typeface="Arial"/>
                <a:sym typeface="Arial"/>
              </a:rPr>
              <a:t>Bob / MCP</a:t>
            </a:r>
            <a:endParaRPr/>
          </a:p>
        </p:txBody>
      </p:sp>
      <p:sp>
        <p:nvSpPr>
          <p:cNvPr id="205" name="Google Shape;205;p15"/>
          <p:cNvSpPr txBox="1"/>
          <p:nvPr/>
        </p:nvSpPr>
        <p:spPr>
          <a:xfrm>
            <a:off x="9692640" y="5047488"/>
            <a:ext cx="190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Natural-language access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D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D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6"/>
          <p:cNvSpPr txBox="1"/>
          <p:nvPr/>
        </p:nvSpPr>
        <p:spPr>
          <a:xfrm>
            <a:off x="502930" y="256025"/>
            <a:ext cx="2194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04  •  ARCHITECTURE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502920" y="658368"/>
            <a:ext cx="1115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16" title="ChatGPT Image Sep 28, 2026, 02_32_1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275" y="593050"/>
            <a:ext cx="10971451" cy="579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D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D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502925" y="256025"/>
            <a:ext cx="170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05  •  INTELLIGENCE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502920" y="658368"/>
            <a:ext cx="1115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8FC"/>
                </a:solidFill>
              </a:rPr>
              <a:t>Every FIR is processed as…</a:t>
            </a: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594360" y="1691640"/>
            <a:ext cx="6446520" cy="768096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768096" y="1901952"/>
            <a:ext cx="1207008" cy="310896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1624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 txBox="1"/>
          <p:nvPr/>
        </p:nvSpPr>
        <p:spPr>
          <a:xfrm>
            <a:off x="841247" y="1933956"/>
            <a:ext cx="106070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EXTRACT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2103120" y="1865376"/>
            <a:ext cx="4617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Phones • accounts • UPI • IMEI • vehicles • aliases • roles</a:t>
            </a:r>
            <a:endParaRPr/>
          </a:p>
        </p:txBody>
      </p:sp>
      <p:cxnSp>
        <p:nvCxnSpPr>
          <p:cNvPr id="225" name="Google Shape;225;p17"/>
          <p:cNvCxnSpPr/>
          <p:nvPr/>
        </p:nvCxnSpPr>
        <p:spPr>
          <a:xfrm>
            <a:off x="3794760" y="2459736"/>
            <a:ext cx="0" cy="219456"/>
          </a:xfrm>
          <a:prstGeom prst="straightConnector1">
            <a:avLst/>
          </a:prstGeom>
          <a:noFill/>
          <a:ln cap="flat" cmpd="sng" w="21575">
            <a:solidFill>
              <a:srgbClr val="41D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6" name="Google Shape;226;p17"/>
          <p:cNvSpPr/>
          <p:nvPr/>
        </p:nvSpPr>
        <p:spPr>
          <a:xfrm>
            <a:off x="594360" y="2651760"/>
            <a:ext cx="6446520" cy="768096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768096" y="2862072"/>
            <a:ext cx="1207008" cy="310896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1624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 txBox="1"/>
          <p:nvPr/>
        </p:nvSpPr>
        <p:spPr>
          <a:xfrm>
            <a:off x="841247" y="2894076"/>
            <a:ext cx="106070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D87FF"/>
                </a:solidFill>
                <a:latin typeface="Arial"/>
                <a:ea typeface="Arial"/>
                <a:cs typeface="Arial"/>
                <a:sym typeface="Arial"/>
              </a:rPr>
              <a:t>DECIDE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2103120" y="2825496"/>
            <a:ext cx="4617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Laya classifies quickly; confidence &lt; 0.40 escalates</a:t>
            </a:r>
            <a:endParaRPr/>
          </a:p>
        </p:txBody>
      </p:sp>
      <p:cxnSp>
        <p:nvCxnSpPr>
          <p:cNvPr id="230" name="Google Shape;230;p17"/>
          <p:cNvCxnSpPr/>
          <p:nvPr/>
        </p:nvCxnSpPr>
        <p:spPr>
          <a:xfrm>
            <a:off x="3794760" y="3419856"/>
            <a:ext cx="0" cy="219456"/>
          </a:xfrm>
          <a:prstGeom prst="straightConnector1">
            <a:avLst/>
          </a:prstGeom>
          <a:noFill/>
          <a:ln cap="flat" cmpd="sng" w="21575">
            <a:solidFill>
              <a:srgbClr val="4D87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1" name="Google Shape;231;p17"/>
          <p:cNvSpPr/>
          <p:nvPr/>
        </p:nvSpPr>
        <p:spPr>
          <a:xfrm>
            <a:off x="594360" y="3611880"/>
            <a:ext cx="6446520" cy="768096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768096" y="3822192"/>
            <a:ext cx="1207008" cy="310896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1624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841247" y="3854196"/>
            <a:ext cx="106070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D6EFF"/>
                </a:solidFill>
                <a:latin typeface="Arial"/>
                <a:ea typeface="Arial"/>
                <a:cs typeface="Arial"/>
                <a:sym typeface="Arial"/>
              </a:rPr>
              <a:t>ENRICH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2103120" y="3785616"/>
            <a:ext cx="4617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Granite adds structured MO / summary only when needed</a:t>
            </a:r>
            <a:endParaRPr/>
          </a:p>
        </p:txBody>
      </p:sp>
      <p:cxnSp>
        <p:nvCxnSpPr>
          <p:cNvPr id="235" name="Google Shape;235;p17"/>
          <p:cNvCxnSpPr/>
          <p:nvPr/>
        </p:nvCxnSpPr>
        <p:spPr>
          <a:xfrm>
            <a:off x="3794760" y="4379976"/>
            <a:ext cx="0" cy="219456"/>
          </a:xfrm>
          <a:prstGeom prst="straightConnector1">
            <a:avLst/>
          </a:prstGeom>
          <a:noFill/>
          <a:ln cap="flat" cmpd="sng" w="21575">
            <a:solidFill>
              <a:srgbClr val="9D6E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6" name="Google Shape;236;p17"/>
          <p:cNvSpPr/>
          <p:nvPr/>
        </p:nvSpPr>
        <p:spPr>
          <a:xfrm>
            <a:off x="594360" y="4572000"/>
            <a:ext cx="6446520" cy="768096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768096" y="4782312"/>
            <a:ext cx="1207008" cy="310896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1624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841247" y="4814316"/>
            <a:ext cx="106070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AE4A"/>
                </a:solidFill>
                <a:latin typeface="Arial"/>
                <a:ea typeface="Arial"/>
                <a:cs typeface="Arial"/>
                <a:sym typeface="Arial"/>
              </a:rPr>
              <a:t>EMBED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2103120" y="4745736"/>
            <a:ext cx="4617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Granite Embedding captures same-MO, different-words similarity</a:t>
            </a:r>
            <a:endParaRPr/>
          </a:p>
        </p:txBody>
      </p:sp>
      <p:cxnSp>
        <p:nvCxnSpPr>
          <p:cNvPr id="240" name="Google Shape;240;p17"/>
          <p:cNvCxnSpPr/>
          <p:nvPr/>
        </p:nvCxnSpPr>
        <p:spPr>
          <a:xfrm>
            <a:off x="3794760" y="5340096"/>
            <a:ext cx="0" cy="219456"/>
          </a:xfrm>
          <a:prstGeom prst="straightConnector1">
            <a:avLst/>
          </a:prstGeom>
          <a:noFill/>
          <a:ln cap="flat" cmpd="sng" w="21575">
            <a:solidFill>
              <a:srgbClr val="FFAE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1" name="Google Shape;241;p17"/>
          <p:cNvSpPr/>
          <p:nvPr/>
        </p:nvSpPr>
        <p:spPr>
          <a:xfrm>
            <a:off x="594360" y="5532120"/>
            <a:ext cx="6446520" cy="768096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768096" y="5742432"/>
            <a:ext cx="1207008" cy="310896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1624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 txBox="1"/>
          <p:nvPr/>
        </p:nvSpPr>
        <p:spPr>
          <a:xfrm>
            <a:off x="841247" y="5774436"/>
            <a:ext cx="106070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BD291"/>
                </a:solidFill>
                <a:latin typeface="Arial"/>
                <a:ea typeface="Arial"/>
                <a:cs typeface="Arial"/>
                <a:sym typeface="Arial"/>
              </a:rPr>
              <a:t>LINK + CLUSTER</a:t>
            </a:r>
            <a:endParaRPr/>
          </a:p>
        </p:txBody>
      </p:sp>
      <p:sp>
        <p:nvSpPr>
          <p:cNvPr id="244" name="Google Shape;244;p17"/>
          <p:cNvSpPr txBox="1"/>
          <p:nvPr/>
        </p:nvSpPr>
        <p:spPr>
          <a:xfrm>
            <a:off x="2103120" y="5705856"/>
            <a:ext cx="4617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Evidence links → NetworkX groups → visible reasons</a:t>
            </a:r>
            <a:endParaRPr/>
          </a:p>
        </p:txBody>
      </p:sp>
      <p:sp>
        <p:nvSpPr>
          <p:cNvPr id="245" name="Google Shape;245;p17"/>
          <p:cNvSpPr/>
          <p:nvPr/>
        </p:nvSpPr>
        <p:spPr>
          <a:xfrm>
            <a:off x="7360920" y="1691640"/>
            <a:ext cx="4297680" cy="2240280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 txBox="1"/>
          <p:nvPr/>
        </p:nvSpPr>
        <p:spPr>
          <a:xfrm>
            <a:off x="7525512" y="1810512"/>
            <a:ext cx="39684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TWO TYPES OF CONNECTIONS</a:t>
            </a:r>
            <a:endParaRPr/>
          </a:p>
        </p:txBody>
      </p:sp>
      <p:sp>
        <p:nvSpPr>
          <p:cNvPr id="247" name="Google Shape;247;p17"/>
          <p:cNvSpPr/>
          <p:nvPr/>
        </p:nvSpPr>
        <p:spPr>
          <a:xfrm>
            <a:off x="7607808" y="2194560"/>
            <a:ext cx="1325880" cy="310896"/>
          </a:xfrm>
          <a:prstGeom prst="roundRect">
            <a:avLst>
              <a:gd fmla="val 16667" name="adj"/>
            </a:avLst>
          </a:prstGeom>
          <a:solidFill>
            <a:srgbClr val="4BD291"/>
          </a:solidFill>
          <a:ln cap="flat" cmpd="sng" w="12700">
            <a:solidFill>
              <a:srgbClr val="4BD2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 txBox="1"/>
          <p:nvPr/>
        </p:nvSpPr>
        <p:spPr>
          <a:xfrm>
            <a:off x="7680960" y="2226564"/>
            <a:ext cx="117957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/>
          </a:p>
        </p:txBody>
      </p:sp>
      <p:sp>
        <p:nvSpPr>
          <p:cNvPr id="249" name="Google Shape;249;p17"/>
          <p:cNvSpPr txBox="1"/>
          <p:nvPr/>
        </p:nvSpPr>
        <p:spPr>
          <a:xfrm>
            <a:off x="9070848" y="2212848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Shared hard identifier or resolved accused.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7607808" y="2679192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BD291"/>
                </a:solidFill>
                <a:latin typeface="Arial"/>
                <a:ea typeface="Arial"/>
                <a:cs typeface="Arial"/>
                <a:sym typeface="Arial"/>
              </a:rPr>
              <a:t>→ Stronger, explainable connection</a:t>
            </a:r>
            <a:endParaRPr/>
          </a:p>
        </p:txBody>
      </p:sp>
      <p:sp>
        <p:nvSpPr>
          <p:cNvPr id="251" name="Google Shape;251;p17"/>
          <p:cNvSpPr/>
          <p:nvPr/>
        </p:nvSpPr>
        <p:spPr>
          <a:xfrm>
            <a:off x="7607808" y="3182112"/>
            <a:ext cx="1325880" cy="310896"/>
          </a:xfrm>
          <a:prstGeom prst="roundRect">
            <a:avLst>
              <a:gd fmla="val 16667" name="adj"/>
            </a:avLst>
          </a:prstGeom>
          <a:solidFill>
            <a:srgbClr val="9D6EFF"/>
          </a:solidFill>
          <a:ln cap="flat" cmpd="sng" w="12700">
            <a:solidFill>
              <a:srgbClr val="9D6E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7"/>
          <p:cNvSpPr txBox="1"/>
          <p:nvPr/>
        </p:nvSpPr>
        <p:spPr>
          <a:xfrm>
            <a:off x="7680960" y="3214116"/>
            <a:ext cx="117957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PATTERN</a:t>
            </a:r>
            <a:endParaRPr/>
          </a:p>
        </p:txBody>
      </p:sp>
      <p:sp>
        <p:nvSpPr>
          <p:cNvPr id="253" name="Google Shape;253;p17"/>
          <p:cNvSpPr txBox="1"/>
          <p:nvPr/>
        </p:nvSpPr>
        <p:spPr>
          <a:xfrm>
            <a:off x="9070848" y="3200400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Similar crime story / MO.</a:t>
            </a:r>
            <a:endParaRPr/>
          </a:p>
        </p:txBody>
      </p:sp>
      <p:sp>
        <p:nvSpPr>
          <p:cNvPr id="254" name="Google Shape;254;p17"/>
          <p:cNvSpPr txBox="1"/>
          <p:nvPr/>
        </p:nvSpPr>
        <p:spPr>
          <a:xfrm>
            <a:off x="7607808" y="3666744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D6EFF"/>
                </a:solidFill>
                <a:latin typeface="Arial"/>
                <a:ea typeface="Arial"/>
                <a:cs typeface="Arial"/>
                <a:sym typeface="Arial"/>
              </a:rPr>
              <a:t>→ Investigation lead, not proof</a:t>
            </a:r>
            <a:endParaRPr/>
          </a:p>
        </p:txBody>
      </p:sp>
      <p:sp>
        <p:nvSpPr>
          <p:cNvPr id="255" name="Google Shape;255;p17"/>
          <p:cNvSpPr/>
          <p:nvPr/>
        </p:nvSpPr>
        <p:spPr>
          <a:xfrm>
            <a:off x="7360920" y="4160520"/>
            <a:ext cx="4297680" cy="1664208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7"/>
          <p:cNvSpPr txBox="1"/>
          <p:nvPr/>
        </p:nvSpPr>
        <p:spPr>
          <a:xfrm>
            <a:off x="7525512" y="4279392"/>
            <a:ext cx="39684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AE4A"/>
                </a:solidFill>
                <a:latin typeface="Arial"/>
                <a:ea typeface="Arial"/>
                <a:cs typeface="Arial"/>
                <a:sym typeface="Arial"/>
              </a:rPr>
              <a:t>WHAT THE OFFICER SEES</a:t>
            </a:r>
            <a:endParaRPr/>
          </a:p>
        </p:txBody>
      </p:sp>
      <p:sp>
        <p:nvSpPr>
          <p:cNvPr id="257" name="Google Shape;257;p17"/>
          <p:cNvSpPr txBox="1"/>
          <p:nvPr/>
        </p:nvSpPr>
        <p:spPr>
          <a:xfrm>
            <a:off x="7607808" y="4590288"/>
            <a:ext cx="37033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• Why are these FIRs connected?</a:t>
            </a:r>
            <a:endParaRPr/>
          </a:p>
        </p:txBody>
      </p:sp>
      <p:sp>
        <p:nvSpPr>
          <p:cNvPr id="258" name="Google Shape;258;p17"/>
          <p:cNvSpPr txBox="1"/>
          <p:nvPr/>
        </p:nvSpPr>
        <p:spPr>
          <a:xfrm>
            <a:off x="7607808" y="4946903"/>
            <a:ext cx="37033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• Which evidence created the link?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7607808" y="5303520"/>
            <a:ext cx="37033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• What should be checked next?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D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41D2D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502925" y="256025"/>
            <a:ext cx="170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05  •  INTELLIGENCE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502920" y="658368"/>
            <a:ext cx="1115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8FC"/>
                </a:solidFill>
              </a:rPr>
              <a:t>Tech Stack Used</a:t>
            </a:r>
            <a:endParaRPr/>
          </a:p>
        </p:txBody>
      </p:sp>
      <p:sp>
        <p:nvSpPr>
          <p:cNvPr id="267" name="Google Shape;267;p18"/>
          <p:cNvSpPr/>
          <p:nvPr/>
        </p:nvSpPr>
        <p:spPr>
          <a:xfrm>
            <a:off x="684006" y="1408737"/>
            <a:ext cx="9308700" cy="4852500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275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86637" rotWithShape="0" dir="5400000" dist="49816">
              <a:srgbClr val="000000">
                <a:alpha val="34900"/>
              </a:srgbClr>
            </a:outerShdw>
          </a:effectLst>
        </p:spPr>
        <p:txBody>
          <a:bodyPr anchorCtr="0" anchor="ctr" bIns="98975" lIns="198025" spcFirstLastPara="1" rIns="198025" wrap="square" tIns="98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1101902" y="1785050"/>
            <a:ext cx="8149500" cy="20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8975" lIns="198025" spcFirstLastPara="1" rIns="198025" wrap="square" tIns="98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3">
                <a:solidFill>
                  <a:srgbClr val="F5F8FC"/>
                </a:solidFill>
              </a:rPr>
              <a:t>- Frontend: NextJs, Tailwind CSS</a:t>
            </a:r>
            <a:endParaRPr b="1" sz="2383">
              <a:solidFill>
                <a:srgbClr val="F5F8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3">
              <a:solidFill>
                <a:srgbClr val="F5F8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3">
                <a:solidFill>
                  <a:srgbClr val="F5F8FC"/>
                </a:solidFill>
              </a:rPr>
              <a:t>- Backend: Python </a:t>
            </a:r>
            <a:endParaRPr b="1" sz="2383">
              <a:solidFill>
                <a:srgbClr val="F5F8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3">
              <a:solidFill>
                <a:srgbClr val="F5F8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3">
                <a:solidFill>
                  <a:srgbClr val="F5F8FC"/>
                </a:solidFill>
              </a:rPr>
              <a:t>- AI Tools: Laya, IBM Granite, IBM BOB</a:t>
            </a:r>
            <a:endParaRPr b="1" sz="2383">
              <a:solidFill>
                <a:srgbClr val="F5F8F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D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D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502932" y="256025"/>
            <a:ext cx="274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07  •  IBM TECHNOLOGIES</a:t>
            </a:r>
            <a:endParaRPr/>
          </a:p>
        </p:txBody>
      </p:sp>
      <p:sp>
        <p:nvSpPr>
          <p:cNvPr id="275" name="Google Shape;275;p19"/>
          <p:cNvSpPr txBox="1"/>
          <p:nvPr/>
        </p:nvSpPr>
        <p:spPr>
          <a:xfrm>
            <a:off x="502920" y="65836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IBM technologies are tied to specific jobs in the workflow.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502920" y="1161288"/>
            <a:ext cx="1106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We use IBM where it adds reasoning, semantic understanding or investigator interaction </a:t>
            </a:r>
            <a:endParaRPr/>
          </a:p>
        </p:txBody>
      </p:sp>
      <p:sp>
        <p:nvSpPr>
          <p:cNvPr id="277" name="Google Shape;277;p19"/>
          <p:cNvSpPr/>
          <p:nvPr/>
        </p:nvSpPr>
        <p:spPr>
          <a:xfrm>
            <a:off x="594360" y="1874519"/>
            <a:ext cx="3456432" cy="3017520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795528" y="2148840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IBM BOB</a:t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1252728" y="2651760"/>
            <a:ext cx="2139696" cy="310896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1624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 txBox="1"/>
          <p:nvPr/>
        </p:nvSpPr>
        <p:spPr>
          <a:xfrm>
            <a:off x="1325880" y="2683764"/>
            <a:ext cx="1993391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INVESTIGATOR INTERFACE</a:t>
            </a:r>
            <a:endParaRPr/>
          </a:p>
        </p:txBody>
      </p:sp>
      <p:sp>
        <p:nvSpPr>
          <p:cNvPr id="281" name="Google Shape;281;p19"/>
          <p:cNvSpPr txBox="1"/>
          <p:nvPr/>
        </p:nvSpPr>
        <p:spPr>
          <a:xfrm>
            <a:off x="868680" y="3246120"/>
            <a:ext cx="290779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Natural-language questions</a:t>
            </a:r>
            <a:br>
              <a:rPr b="1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MCP tool access</a:t>
            </a:r>
            <a:br>
              <a:rPr b="1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FIR Analyst custom mode</a:t>
            </a:r>
            <a:endParaRPr/>
          </a:p>
        </p:txBody>
      </p:sp>
      <p:sp>
        <p:nvSpPr>
          <p:cNvPr id="282" name="Google Shape;282;p19"/>
          <p:cNvSpPr/>
          <p:nvPr/>
        </p:nvSpPr>
        <p:spPr>
          <a:xfrm>
            <a:off x="4297680" y="1874519"/>
            <a:ext cx="3456432" cy="3017520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4498848" y="2148840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9D6EFF"/>
                </a:solidFill>
                <a:latin typeface="Arial"/>
                <a:ea typeface="Arial"/>
                <a:cs typeface="Arial"/>
                <a:sym typeface="Arial"/>
              </a:rPr>
              <a:t>GRANITE LLM</a:t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4956048" y="2651760"/>
            <a:ext cx="2139696" cy="310896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1624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5029200" y="2683764"/>
            <a:ext cx="1993391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D6EFF"/>
                </a:solidFill>
                <a:latin typeface="Arial"/>
                <a:ea typeface="Arial"/>
                <a:cs typeface="Arial"/>
                <a:sym typeface="Arial"/>
              </a:rPr>
              <a:t>UNCERTAINTY + BRIEFS</a:t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4572000" y="3246120"/>
            <a:ext cx="290779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Escalated FIR analysis</a:t>
            </a:r>
            <a:br>
              <a:rPr b="1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Structured enrichment</a:t>
            </a:r>
            <a:br>
              <a:rPr b="1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Grounded station briefs</a:t>
            </a:r>
            <a:endParaRPr/>
          </a:p>
        </p:txBody>
      </p:sp>
      <p:sp>
        <p:nvSpPr>
          <p:cNvPr id="287" name="Google Shape;287;p19"/>
          <p:cNvSpPr/>
          <p:nvPr/>
        </p:nvSpPr>
        <p:spPr>
          <a:xfrm>
            <a:off x="8001000" y="1874519"/>
            <a:ext cx="3456432" cy="3017520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 txBox="1"/>
          <p:nvPr/>
        </p:nvSpPr>
        <p:spPr>
          <a:xfrm>
            <a:off x="8202168" y="2148840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BD291"/>
                </a:solidFill>
                <a:latin typeface="Arial"/>
                <a:ea typeface="Arial"/>
                <a:cs typeface="Arial"/>
                <a:sym typeface="Arial"/>
              </a:rPr>
              <a:t>GRANITE EMBEDDING</a:t>
            </a:r>
            <a:endParaRPr/>
          </a:p>
        </p:txBody>
      </p:sp>
      <p:sp>
        <p:nvSpPr>
          <p:cNvPr id="289" name="Google Shape;289;p19"/>
          <p:cNvSpPr/>
          <p:nvPr/>
        </p:nvSpPr>
        <p:spPr>
          <a:xfrm>
            <a:off x="8659368" y="2651760"/>
            <a:ext cx="2139696" cy="310896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1624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 txBox="1"/>
          <p:nvPr/>
        </p:nvSpPr>
        <p:spPr>
          <a:xfrm>
            <a:off x="8732520" y="2683764"/>
            <a:ext cx="1993391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BD291"/>
                </a:solidFill>
                <a:latin typeface="Arial"/>
                <a:ea typeface="Arial"/>
                <a:cs typeface="Arial"/>
                <a:sym typeface="Arial"/>
              </a:rPr>
              <a:t>SEMANTIC MATCHING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8275320" y="3246120"/>
            <a:ext cx="290779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Same MO, different words</a:t>
            </a:r>
            <a:br>
              <a:rPr b="1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Pattern similarity</a:t>
            </a:r>
            <a:br>
              <a:rPr b="1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Lead generation</a:t>
            </a:r>
            <a:endParaRPr/>
          </a:p>
        </p:txBody>
      </p:sp>
      <p:sp>
        <p:nvSpPr>
          <p:cNvPr id="292" name="Google Shape;292;p19"/>
          <p:cNvSpPr/>
          <p:nvPr/>
        </p:nvSpPr>
        <p:spPr>
          <a:xfrm>
            <a:off x="594360" y="5230368"/>
            <a:ext cx="10954512" cy="749808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 txBox="1"/>
          <p:nvPr/>
        </p:nvSpPr>
        <p:spPr>
          <a:xfrm>
            <a:off x="841248" y="5404104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watsonx.ai</a:t>
            </a:r>
            <a:endParaRPr/>
          </a:p>
        </p:txBody>
      </p:sp>
      <p:sp>
        <p:nvSpPr>
          <p:cNvPr id="294" name="Google Shape;294;p19"/>
          <p:cNvSpPr txBox="1"/>
          <p:nvPr/>
        </p:nvSpPr>
        <p:spPr>
          <a:xfrm>
            <a:off x="2148840" y="5376672"/>
            <a:ext cx="9006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Hosts the Granite LLM path used for escalated reasoning and grounded report generation.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D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D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502920" y="25603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08  •  IMPACT &amp; SUCCESS</a:t>
            </a:r>
            <a:endParaRPr/>
          </a:p>
        </p:txBody>
      </p:sp>
      <p:sp>
        <p:nvSpPr>
          <p:cNvPr id="301" name="Google Shape;301;p20"/>
          <p:cNvSpPr txBox="1"/>
          <p:nvPr/>
        </p:nvSpPr>
        <p:spPr>
          <a:xfrm>
            <a:off x="502920" y="658368"/>
            <a:ext cx="1115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r>
              <a:rPr b="1" lang="en-US" sz="2800">
                <a:solidFill>
                  <a:srgbClr val="F5F8FC"/>
                </a:solidFill>
              </a:rPr>
              <a:t> of CRIME FIR </a:t>
            </a:r>
            <a:endParaRPr/>
          </a:p>
        </p:txBody>
      </p:sp>
      <p:sp>
        <p:nvSpPr>
          <p:cNvPr id="302" name="Google Shape;302;p20"/>
          <p:cNvSpPr txBox="1"/>
          <p:nvPr/>
        </p:nvSpPr>
        <p:spPr>
          <a:xfrm>
            <a:off x="502920" y="116128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Success means investigators can move from raw FIR batches to explainable cross-case intelligence with less manual comparison.</a:t>
            </a:r>
            <a:endParaRPr/>
          </a:p>
        </p:txBody>
      </p:sp>
      <p:sp>
        <p:nvSpPr>
          <p:cNvPr id="303" name="Google Shape;303;p20"/>
          <p:cNvSpPr/>
          <p:nvPr/>
        </p:nvSpPr>
        <p:spPr>
          <a:xfrm>
            <a:off x="594360" y="1691640"/>
            <a:ext cx="5074920" cy="2103120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758952" y="1810512"/>
            <a:ext cx="4745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AE4A"/>
                </a:solidFill>
                <a:latin typeface="Arial"/>
                <a:ea typeface="Arial"/>
                <a:cs typeface="Arial"/>
                <a:sym typeface="Arial"/>
              </a:rPr>
              <a:t>BEFORE CRIME FIR</a:t>
            </a:r>
            <a:endParaRPr/>
          </a:p>
        </p:txBody>
      </p:sp>
      <p:sp>
        <p:nvSpPr>
          <p:cNvPr id="305" name="Google Shape;305;p20"/>
          <p:cNvSpPr txBox="1"/>
          <p:nvPr/>
        </p:nvSpPr>
        <p:spPr>
          <a:xfrm>
            <a:off x="841248" y="2176272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• FIRs remain case-by-case</a:t>
            </a:r>
            <a:endParaRPr/>
          </a:p>
        </p:txBody>
      </p:sp>
      <p:sp>
        <p:nvSpPr>
          <p:cNvPr id="306" name="Google Shape;306;p20"/>
          <p:cNvSpPr txBox="1"/>
          <p:nvPr/>
        </p:nvSpPr>
        <p:spPr>
          <a:xfrm>
            <a:off x="841248" y="2523744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• Cross-case comparison is manual</a:t>
            </a:r>
            <a:endParaRPr/>
          </a:p>
        </p:txBody>
      </p:sp>
      <p:sp>
        <p:nvSpPr>
          <p:cNvPr id="307" name="Google Shape;307;p20"/>
          <p:cNvSpPr txBox="1"/>
          <p:nvPr/>
        </p:nvSpPr>
        <p:spPr>
          <a:xfrm>
            <a:off x="841248" y="2871215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• Patterns are harder to explain</a:t>
            </a:r>
            <a:endParaRPr/>
          </a:p>
        </p:txBody>
      </p:sp>
      <p:sp>
        <p:nvSpPr>
          <p:cNvPr id="308" name="Google Shape;308;p20"/>
          <p:cNvSpPr txBox="1"/>
          <p:nvPr/>
        </p:nvSpPr>
        <p:spPr>
          <a:xfrm>
            <a:off x="841248" y="3218688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• Station summaries take effort</a:t>
            </a:r>
            <a:endParaRPr/>
          </a:p>
        </p:txBody>
      </p:sp>
      <p:sp>
        <p:nvSpPr>
          <p:cNvPr id="309" name="Google Shape;309;p20"/>
          <p:cNvSpPr/>
          <p:nvPr/>
        </p:nvSpPr>
        <p:spPr>
          <a:xfrm>
            <a:off x="6126480" y="1691640"/>
            <a:ext cx="5440680" cy="2103120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 txBox="1"/>
          <p:nvPr/>
        </p:nvSpPr>
        <p:spPr>
          <a:xfrm>
            <a:off x="6291072" y="1810512"/>
            <a:ext cx="5111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BD291"/>
                </a:solidFill>
                <a:latin typeface="Arial"/>
                <a:ea typeface="Arial"/>
                <a:cs typeface="Arial"/>
                <a:sym typeface="Arial"/>
              </a:rPr>
              <a:t>WITH CRIME FIR</a:t>
            </a:r>
            <a:endParaRPr/>
          </a:p>
        </p:txBody>
      </p:sp>
      <p:sp>
        <p:nvSpPr>
          <p:cNvPr id="311" name="Google Shape;311;p20"/>
          <p:cNvSpPr txBox="1"/>
          <p:nvPr/>
        </p:nvSpPr>
        <p:spPr>
          <a:xfrm>
            <a:off x="6382512" y="2176272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• Every FIR becomes structured intelligence</a:t>
            </a:r>
            <a:endParaRPr/>
          </a:p>
        </p:txBody>
      </p:sp>
      <p:sp>
        <p:nvSpPr>
          <p:cNvPr id="312" name="Google Shape;312;p20"/>
          <p:cNvSpPr txBox="1"/>
          <p:nvPr/>
        </p:nvSpPr>
        <p:spPr>
          <a:xfrm>
            <a:off x="6382512" y="2523744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• Evidence links expose recurring infrastructure</a:t>
            </a:r>
            <a:endParaRPr/>
          </a:p>
        </p:txBody>
      </p:sp>
      <p:sp>
        <p:nvSpPr>
          <p:cNvPr id="313" name="Google Shape;313;p20"/>
          <p:cNvSpPr txBox="1"/>
          <p:nvPr/>
        </p:nvSpPr>
        <p:spPr>
          <a:xfrm>
            <a:off x="6382512" y="2871215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• Graphs show why cases connect</a:t>
            </a:r>
            <a:endParaRPr/>
          </a:p>
        </p:txBody>
      </p:sp>
      <p:sp>
        <p:nvSpPr>
          <p:cNvPr id="314" name="Google Shape;314;p20"/>
          <p:cNvSpPr txBox="1"/>
          <p:nvPr/>
        </p:nvSpPr>
        <p:spPr>
          <a:xfrm>
            <a:off x="6382512" y="3218688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• Station trends become repeatable outputs</a:t>
            </a:r>
            <a:endParaRPr/>
          </a:p>
        </p:txBody>
      </p:sp>
      <p:sp>
        <p:nvSpPr>
          <p:cNvPr id="315" name="Google Shape;315;p20"/>
          <p:cNvSpPr txBox="1"/>
          <p:nvPr/>
        </p:nvSpPr>
        <p:spPr>
          <a:xfrm>
            <a:off x="594360" y="409651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SUCCESS LOOKS LIKE</a:t>
            </a:r>
            <a:endParaRPr/>
          </a:p>
        </p:txBody>
      </p:sp>
      <p:sp>
        <p:nvSpPr>
          <p:cNvPr id="316" name="Google Shape;316;p20"/>
          <p:cNvSpPr/>
          <p:nvPr/>
        </p:nvSpPr>
        <p:spPr>
          <a:xfrm>
            <a:off x="594360" y="4498848"/>
            <a:ext cx="2075688" cy="1078992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685800" y="4663440"/>
            <a:ext cx="189280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1D2DC"/>
                </a:solidFill>
                <a:latin typeface="Arial"/>
                <a:ea typeface="Arial"/>
                <a:cs typeface="Arial"/>
                <a:sym typeface="Arial"/>
              </a:rPr>
              <a:t>93.4%</a:t>
            </a:r>
            <a:endParaRPr/>
          </a:p>
        </p:txBody>
      </p:sp>
      <p:sp>
        <p:nvSpPr>
          <p:cNvPr id="318" name="Google Shape;318;p20"/>
          <p:cNvSpPr txBox="1"/>
          <p:nvPr/>
        </p:nvSpPr>
        <p:spPr>
          <a:xfrm>
            <a:off x="685800" y="5010912"/>
            <a:ext cx="18928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Major crime head</a:t>
            </a:r>
            <a:endParaRPr/>
          </a:p>
        </p:txBody>
      </p:sp>
      <p:sp>
        <p:nvSpPr>
          <p:cNvPr id="319" name="Google Shape;319;p20"/>
          <p:cNvSpPr txBox="1"/>
          <p:nvPr/>
        </p:nvSpPr>
        <p:spPr>
          <a:xfrm>
            <a:off x="685800" y="5257800"/>
            <a:ext cx="1892807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unseen test FIRs</a:t>
            </a:r>
            <a:endParaRPr/>
          </a:p>
        </p:txBody>
      </p:sp>
      <p:sp>
        <p:nvSpPr>
          <p:cNvPr id="320" name="Google Shape;320;p20"/>
          <p:cNvSpPr/>
          <p:nvPr/>
        </p:nvSpPr>
        <p:spPr>
          <a:xfrm>
            <a:off x="2807208" y="4498848"/>
            <a:ext cx="2075688" cy="1078992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 txBox="1"/>
          <p:nvPr/>
        </p:nvSpPr>
        <p:spPr>
          <a:xfrm>
            <a:off x="2898648" y="4663440"/>
            <a:ext cx="189280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D87FF"/>
                </a:solidFill>
                <a:latin typeface="Arial"/>
                <a:ea typeface="Arial"/>
                <a:cs typeface="Arial"/>
                <a:sym typeface="Arial"/>
              </a:rPr>
              <a:t>83.0%</a:t>
            </a:r>
            <a:endParaRPr/>
          </a:p>
        </p:txBody>
      </p:sp>
      <p:sp>
        <p:nvSpPr>
          <p:cNvPr id="322" name="Google Shape;322;p20"/>
          <p:cNvSpPr txBox="1"/>
          <p:nvPr/>
        </p:nvSpPr>
        <p:spPr>
          <a:xfrm>
            <a:off x="2898648" y="5010912"/>
            <a:ext cx="18928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Exact crime type</a:t>
            </a:r>
            <a:endParaRPr/>
          </a:p>
        </p:txBody>
      </p:sp>
      <p:sp>
        <p:nvSpPr>
          <p:cNvPr id="323" name="Google Shape;323;p20"/>
          <p:cNvSpPr txBox="1"/>
          <p:nvPr/>
        </p:nvSpPr>
        <p:spPr>
          <a:xfrm>
            <a:off x="2898648" y="5257800"/>
            <a:ext cx="1892807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unseen test FIRs</a:t>
            </a:r>
            <a:endParaRPr/>
          </a:p>
        </p:txBody>
      </p:sp>
      <p:sp>
        <p:nvSpPr>
          <p:cNvPr id="324" name="Google Shape;324;p20"/>
          <p:cNvSpPr/>
          <p:nvPr/>
        </p:nvSpPr>
        <p:spPr>
          <a:xfrm>
            <a:off x="5020056" y="4498848"/>
            <a:ext cx="2075688" cy="1078992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5111496" y="4663440"/>
            <a:ext cx="189280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BD291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5111496" y="5010912"/>
            <a:ext cx="18928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Evidence precision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5111496" y="5257800"/>
            <a:ext cx="1892807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hard identifiers</a:t>
            </a:r>
            <a:endParaRPr/>
          </a:p>
        </p:txBody>
      </p:sp>
      <p:sp>
        <p:nvSpPr>
          <p:cNvPr id="328" name="Google Shape;328;p20"/>
          <p:cNvSpPr/>
          <p:nvPr/>
        </p:nvSpPr>
        <p:spPr>
          <a:xfrm>
            <a:off x="7232904" y="4498848"/>
            <a:ext cx="2075688" cy="1078992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 txBox="1"/>
          <p:nvPr/>
        </p:nvSpPr>
        <p:spPr>
          <a:xfrm>
            <a:off x="7324344" y="4663440"/>
            <a:ext cx="189280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9D6EFF"/>
                </a:solidFill>
                <a:latin typeface="Arial"/>
                <a:ea typeface="Arial"/>
                <a:cs typeface="Arial"/>
                <a:sym typeface="Arial"/>
              </a:rPr>
              <a:t>11 / 12</a:t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7324344" y="5010912"/>
            <a:ext cx="18928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Planted gangs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7324344" y="5257800"/>
            <a:ext cx="1892807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exact clusters</a:t>
            </a:r>
            <a:endParaRPr/>
          </a:p>
        </p:txBody>
      </p:sp>
      <p:sp>
        <p:nvSpPr>
          <p:cNvPr id="332" name="Google Shape;332;p20"/>
          <p:cNvSpPr/>
          <p:nvPr/>
        </p:nvSpPr>
        <p:spPr>
          <a:xfrm>
            <a:off x="9445752" y="4498848"/>
            <a:ext cx="2075688" cy="1078992"/>
          </a:xfrm>
          <a:prstGeom prst="roundRect">
            <a:avLst>
              <a:gd fmla="val 16667" name="adj"/>
            </a:avLst>
          </a:prstGeom>
          <a:solidFill>
            <a:srgbClr val="111C30"/>
          </a:solidFill>
          <a:ln cap="flat" cmpd="sng" w="127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9537192" y="4663440"/>
            <a:ext cx="1892807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AE4A"/>
                </a:solidFill>
                <a:latin typeface="Arial"/>
                <a:ea typeface="Arial"/>
                <a:cs typeface="Arial"/>
                <a:sym typeface="Arial"/>
              </a:rPr>
              <a:t>0 / 40</a:t>
            </a:r>
            <a:endParaRPr/>
          </a:p>
        </p:txBody>
      </p:sp>
      <p:sp>
        <p:nvSpPr>
          <p:cNvPr id="334" name="Google Shape;334;p20"/>
          <p:cNvSpPr txBox="1"/>
          <p:nvPr/>
        </p:nvSpPr>
        <p:spPr>
          <a:xfrm>
            <a:off x="9537192" y="5010912"/>
            <a:ext cx="18928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Decoys</a:t>
            </a:r>
            <a:endParaRPr/>
          </a:p>
        </p:txBody>
      </p:sp>
      <p:sp>
        <p:nvSpPr>
          <p:cNvPr id="335" name="Google Shape;335;p20"/>
          <p:cNvSpPr txBox="1"/>
          <p:nvPr/>
        </p:nvSpPr>
        <p:spPr>
          <a:xfrm>
            <a:off x="9537192" y="5257800"/>
            <a:ext cx="1892807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BB8CA"/>
                </a:solidFill>
                <a:latin typeface="Arial"/>
                <a:ea typeface="Arial"/>
                <a:cs typeface="Arial"/>
                <a:sym typeface="Arial"/>
              </a:rPr>
              <a:t>flagged as gangs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D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"/>
          <p:cNvSpPr txBox="1"/>
          <p:nvPr/>
        </p:nvSpPr>
        <p:spPr>
          <a:xfrm>
            <a:off x="502920" y="658368"/>
            <a:ext cx="1115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8FC"/>
                </a:solidFill>
              </a:rPr>
              <a:t>Team &amp; Roles</a:t>
            </a:r>
            <a:endParaRPr/>
          </a:p>
        </p:txBody>
      </p:sp>
      <p:sp>
        <p:nvSpPr>
          <p:cNvPr id="341" name="Google Shape;341;p21"/>
          <p:cNvSpPr/>
          <p:nvPr/>
        </p:nvSpPr>
        <p:spPr>
          <a:xfrm>
            <a:off x="684006" y="1408737"/>
            <a:ext cx="9308700" cy="4852500"/>
          </a:xfrm>
          <a:prstGeom prst="roundRect">
            <a:avLst>
              <a:gd fmla="val 16667" name="adj"/>
            </a:avLst>
          </a:prstGeom>
          <a:solidFill>
            <a:srgbClr val="16243C"/>
          </a:solidFill>
          <a:ln cap="flat" cmpd="sng" w="27500">
            <a:solidFill>
              <a:srgbClr val="2A3952"/>
            </a:solidFill>
            <a:prstDash val="solid"/>
            <a:round/>
            <a:headEnd len="sm" w="sm" type="none"/>
            <a:tailEnd len="sm" w="sm" type="none"/>
          </a:ln>
          <a:effectLst>
            <a:outerShdw blurRad="86637" rotWithShape="0" dir="5400000" dist="49816">
              <a:srgbClr val="000000">
                <a:alpha val="34900"/>
              </a:srgbClr>
            </a:outerShdw>
          </a:effectLst>
        </p:spPr>
        <p:txBody>
          <a:bodyPr anchorCtr="0" anchor="ctr" bIns="98975" lIns="198025" spcFirstLastPara="1" rIns="198025" wrap="square" tIns="98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1101900" y="1785050"/>
            <a:ext cx="8483400" cy="27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8975" lIns="198025" spcFirstLastPara="1" rIns="198025" wrap="square" tIns="98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3">
                <a:solidFill>
                  <a:srgbClr val="F5F8FC"/>
                </a:solidFill>
              </a:rPr>
              <a:t>Member 1: Patel Raj - Team Lead &amp; Architecture</a:t>
            </a:r>
            <a:endParaRPr b="1" sz="2383">
              <a:solidFill>
                <a:srgbClr val="F5F8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3">
              <a:solidFill>
                <a:srgbClr val="F5F8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3">
                <a:solidFill>
                  <a:srgbClr val="F5F8FC"/>
                </a:solidFill>
              </a:rPr>
              <a:t>Member 2: Karan yadav - </a:t>
            </a:r>
            <a:r>
              <a:rPr b="1" lang="en-US" sz="2383">
                <a:solidFill>
                  <a:srgbClr val="F5F8FC"/>
                </a:solidFill>
              </a:rPr>
              <a:t>backend</a:t>
            </a:r>
            <a:r>
              <a:rPr b="1" lang="en-US" sz="2383">
                <a:solidFill>
                  <a:srgbClr val="F5F8FC"/>
                </a:solidFill>
              </a:rPr>
              <a:t> &amp; AI</a:t>
            </a:r>
            <a:endParaRPr b="1" sz="2383">
              <a:solidFill>
                <a:srgbClr val="F5F8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3">
              <a:solidFill>
                <a:srgbClr val="F5F8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3">
                <a:solidFill>
                  <a:srgbClr val="F5F8FC"/>
                </a:solidFill>
              </a:rPr>
              <a:t>Member 3: Dhaval Patil - Frontend </a:t>
            </a:r>
            <a:endParaRPr b="1" sz="2383">
              <a:solidFill>
                <a:srgbClr val="F5F8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3">
              <a:solidFill>
                <a:srgbClr val="F5F8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3">
                <a:solidFill>
                  <a:srgbClr val="F5F8FC"/>
                </a:solidFill>
              </a:rPr>
              <a:t>Member 4: Parth shete - Dataset, Testing &amp; Docs</a:t>
            </a:r>
            <a:endParaRPr b="1" sz="2383">
              <a:solidFill>
                <a:srgbClr val="F5F8F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